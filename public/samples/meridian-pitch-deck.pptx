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Meridian Cycles — Series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Raising $18M Series B to scale cargo-bike logistics across South Asia</a:t>
            </a:r>
          </a:p>
          <a:p>
            <a:r>
              <a:t>Presented by the Meridian founding team,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Last-mile delivery in dense South Asian cities is slow, polluting, and expensive</a:t>
            </a:r>
          </a:p>
          <a:p>
            <a:r>
              <a:t>Vans get stuck in traffic that motorcycles and cargo bikes can weave through</a:t>
            </a:r>
          </a:p>
          <a:p>
            <a:r>
              <a:t>Existing e-cargo bikes are imported, expensive, and poorly suited to monsoon conditions</a:t>
            </a:r>
          </a:p>
          <a:p>
            <a:r>
              <a:t>Delivery operators lose an estimated 22% of route time to congestion in tier-1 cities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Meridian designs and manufactures cargo bikes purpose-built for monsoon climates</a:t>
            </a:r>
          </a:p>
          <a:p>
            <a:r>
              <a:t>Modular battery packs swap in under 90 seconds, eliminating charging downtime</a:t>
            </a:r>
          </a:p>
          <a:p>
            <a:r>
              <a:t>Reinforced frame rated for 120kg of cargo, twice the category average</a:t>
            </a:r>
          </a:p>
          <a:p>
            <a:r>
              <a:t>Fleet management software gives operators live location and battery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K1: single-rider cargo bike, 80kg capacity, launched 2023</a:t>
            </a:r>
          </a:p>
          <a:p>
            <a:r>
              <a:t>K2: flagship drone-assisted delivery unit for last-100-meters drop-off, launched 2025</a:t>
            </a:r>
          </a:p>
          <a:p>
            <a:r>
              <a:t>K3: three-wheel cargo trike, 120kg capacity, entering production Q1 2027</a:t>
            </a:r>
          </a:p>
          <a:p>
            <a:r>
              <a:t>All models share the same swappable battery standard across the fleet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addressable market: $4.2B across South Asian last-mile logistics by 2028</a:t>
            </a:r>
          </a:p>
          <a:p>
            <a:r>
              <a:t>Serviceable addressable market: $900M in cargo-bike-suitable urban delivery routes</a:t>
            </a:r>
          </a:p>
          <a:p>
            <a:r>
              <a:t>Serviceable obtainable market: $140M based on our current city rollout plan</a:t>
            </a:r>
          </a:p>
          <a:p>
            <a:r>
              <a:t>E-cargo bike category growing 34% year over year across the region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2,400 units deployed across 6 cities as of Q2 2026</a:t>
            </a:r>
          </a:p>
          <a:p>
            <a:r>
              <a:t>Revenue grew 18% year over year to ₹482 crore in FY2025</a:t>
            </a:r>
          </a:p>
          <a:p>
            <a:r>
              <a:t>Cargo segment grew 41%, now 35% of total revenue</a:t>
            </a:r>
          </a:p>
          <a:p>
            <a:r>
              <a:t>3 of the 5 largest regional delivery operators are paying fleet customers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 sold outright or leased monthly to delivery operators</a:t>
            </a:r>
          </a:p>
          <a:p>
            <a:r>
              <a:t>Recurring revenue from battery-swap subscriptions and fleet software licensing</a:t>
            </a:r>
          </a:p>
          <a:p>
            <a:r>
              <a:t>Gross margin of 31% on hardware, 68% on the software and swap subscription layer</a:t>
            </a:r>
          </a:p>
          <a:p>
            <a:r>
              <a:t>Average fleet customer contract length is 27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Imported e-cargo bikes (mostly Chinese OEMs) compete on price but fail in monsoon conditions</a:t>
            </a:r>
          </a:p>
          <a:p>
            <a:r>
              <a:t>Traditional van-based logistics fleets are the default incumbent, not other cargo bikes</a:t>
            </a:r>
          </a:p>
          <a:p>
            <a:r>
              <a:t>No competitor currently offers a regional swap-battery network at our scale</a:t>
            </a:r>
          </a:p>
          <a:p>
            <a:r>
              <a:t>Our defensibility is the swap network and monsoon-rated hardware, not the bike itself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Land-and-expand: start with one delivery operator per city, then cross-sell the fleet</a:t>
            </a:r>
          </a:p>
          <a:p>
            <a:r>
              <a:t>Battery swap stations double as a distribution channel for spare parts and upsells</a:t>
            </a:r>
          </a:p>
          <a:p>
            <a:r>
              <a:t>Government partnerships for emissions-reduction subsidies in 2 states already signed</a:t>
            </a:r>
          </a:p>
          <a:p>
            <a:r>
              <a:t>Plan to enter 5 new cities in the next 18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CEO: 12 years in EV manufacturing, previously led production at a regional scooter maker</a:t>
            </a:r>
          </a:p>
          <a:p>
            <a:r>
              <a:t>CTO: built the battery-swap software stack, background in fleet telematics</a:t>
            </a:r>
          </a:p>
          <a:p>
            <a:r>
              <a:t>Head of Operations: ran last-mile logistics for a top e-commerce company for 8 years</a:t>
            </a:r>
          </a:p>
          <a:p>
            <a:r>
              <a:t>22 engineers, 14 of them in battery and drivetrain R&amp;D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FY2026 revenue guidance: ₹640 crore, driven mostly by cargo segment growth</a:t>
            </a:r>
          </a:p>
          <a:p>
            <a:r>
              <a:t>Projected to reach operating profitability by FY2028</a:t>
            </a:r>
          </a:p>
          <a:p>
            <a:r>
              <a:t>Unit economics turn profitable per vehicle after 14 months of battery-swap subscription revenue</a:t>
            </a:r>
          </a:p>
          <a:p>
            <a:r>
              <a:t>Three-year revenue CAGR projected at 46%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Battery cell supply chain is concentrated with two suppliers, a single-source risk</a:t>
            </a:r>
          </a:p>
          <a:p>
            <a:r>
              <a:t>Regulatory uncertainty around e-cargo vehicle subsidies could change year to year</a:t>
            </a:r>
          </a:p>
          <a:p>
            <a:r>
              <a:t>Competing OEMs may localize monsoon-rated manufacturing faster than expected</a:t>
            </a:r>
          </a:p>
          <a:p>
            <a:r>
              <a:t>Talent retention in battery R&amp;D is competitive given demand from larger EV makers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Raising $18M in this Series B round</a:t>
            </a:r>
          </a:p>
          <a:p>
            <a:r>
              <a:t>60% allocated to manufacturing capacity expansion for the K3 trike</a:t>
            </a:r>
          </a:p>
          <a:p>
            <a:r>
              <a:t>25% allocated to the battery-swap station network in 5 new cities</a:t>
            </a:r>
          </a:p>
          <a:p>
            <a:r>
              <a:t>15% allocated to working capital and team growth in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 2027: K3 trike enters production, first 5 new cities begin swap-station rollout</a:t>
            </a:r>
          </a:p>
          <a:p>
            <a:r>
              <a:t>Q3 2027: fleet software adds predictive maintenance based on battery health data</a:t>
            </a:r>
          </a:p>
          <a:p>
            <a:r>
              <a:t>2028: target 15,000 units deployed across 15 cities</a:t>
            </a:r>
          </a:p>
          <a:p>
            <a:r>
              <a:t>Long-term: license the swap-battery standard to other regional EV manufacturers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last-mile delivery network that is faster than vans and cleaner than motorcycles</a:t>
            </a:r>
          </a:p>
          <a:p>
            <a:r>
              <a:t>Every cargo bike on the road running on Meridian's swap-battery standard</a:t>
            </a:r>
          </a:p>
          <a:p>
            <a:r>
              <a:t>Thank you —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