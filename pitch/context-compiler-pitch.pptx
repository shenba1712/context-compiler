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196596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AF0"/>
                </a:solidFill>
                <a:latin typeface="Calibri"/>
              </a:rPr>
              <a:t>Context Compiler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4ADE80"/>
                </a:solidFill>
                <a:latin typeface="Calibri"/>
              </a:rPr>
              <a:t>Same answer. 3% of the tokens.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AA0B0"/>
                </a:solidFill>
                <a:latin typeface="Calibri"/>
              </a:rPr>
              <a:t>A task-aware, token-budgeted context layer for AI agents — plug in via MCP or the hosted demo.</a:t>
            </a:r>
          </a:p>
        </p:txBody>
      </p:sp>
      <p:sp>
        <p:nvSpPr>
          <p:cNvPr id="5" name="Shape 3"/>
          <p:cNvSpPr/>
          <p:nvPr/>
        </p:nvSpPr>
        <p:spPr>
          <a:xfrm>
            <a:off x="7406640" y="1965960"/>
            <a:ext cx="4114800" cy="2514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 4"/>
          <p:cNvSpPr txBox="1"/>
          <p:nvPr/>
        </p:nvSpPr>
        <p:spPr>
          <a:xfrm>
            <a:off x="7680960" y="2148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AA0B0"/>
                </a:solidFill>
                <a:latin typeface="Calibri"/>
              </a:rPr>
              <a:t>one 100-page document, one question</a:t>
            </a:r>
          </a:p>
        </p:txBody>
      </p:sp>
      <p:sp>
        <p:nvSpPr>
          <p:cNvPr id="7" name="Text 5"/>
          <p:cNvSpPr/>
          <p:nvPr/>
        </p:nvSpPr>
        <p:spPr>
          <a:xfrm>
            <a:off x="7680960" y="2560320"/>
            <a:ext cx="3566160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 5b"/>
          <p:cNvSpPr txBox="1"/>
          <p:nvPr/>
        </p:nvSpPr>
        <p:spPr>
          <a:xfrm>
            <a:off x="7680960" y="2560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B0A0A"/>
                </a:solidFill>
                <a:latin typeface="Calibri"/>
              </a:rPr>
              <a:t>raw file — 20,364 tokens</a:t>
            </a:r>
          </a:p>
        </p:txBody>
      </p:sp>
      <p:sp>
        <p:nvSpPr>
          <p:cNvPr id="9" name="Text 6"/>
          <p:cNvSpPr/>
          <p:nvPr/>
        </p:nvSpPr>
        <p:spPr>
          <a:xfrm>
            <a:off x="7680960" y="3246120"/>
            <a:ext cx="411480" cy="4572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 7"/>
          <p:cNvSpPr txBox="1"/>
          <p:nvPr/>
        </p:nvSpPr>
        <p:spPr>
          <a:xfrm>
            <a:off x="8229600" y="3246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Calibri"/>
              </a:rPr>
              <a:t>compiled — 591 tokens (97% less)</a:t>
            </a:r>
          </a:p>
        </p:txBody>
      </p:sp>
      <p:sp>
        <p:nvSpPr>
          <p:cNvPr id="11" name="Text 8"/>
          <p:cNvSpPr txBox="1"/>
          <p:nvPr/>
        </p:nvSpPr>
        <p:spPr>
          <a:xfrm>
            <a:off x="76809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9AA0B0"/>
                </a:solidFill>
                <a:latin typeface="Calibri"/>
              </a:rPr>
              <a:t>verified: unit tests + recall eval + live runs</a:t>
            </a:r>
          </a:p>
        </p:txBody>
      </p:sp>
      <p:sp>
        <p:nvSpPr>
          <p:cNvPr id="12" name="Text 9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AA0B0"/>
                </a:solidFill>
                <a:latin typeface="Calibri"/>
              </a:rPr>
              <a:t>OpenAI × NamasteDev Codex Hackathon · July 2026 · solo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EAF0"/>
                </a:solidFill>
                <a:latin typeface="Calibri"/>
              </a:rPr>
              <a:t>Agents pay to read pages they don't need</a:t>
            </a:r>
          </a:p>
        </p:txBody>
      </p:sp>
      <p:sp>
        <p:nvSpPr>
          <p:cNvPr id="3" name="Shape"/>
          <p:cNvSpPr/>
          <p:nvPr/>
        </p:nvSpPr>
        <p:spPr>
          <a:xfrm>
            <a:off x="64008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_1_e5d1b2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1720901"/>
            <a:ext cx="261518" cy="261518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1417320" y="15270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8EAF0"/>
                </a:solidFill>
                <a:latin typeface="Calibri"/>
              </a:rPr>
              <a:t>Whole-file reads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1417320" y="190195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B0"/>
                </a:solidFill>
                <a:latin typeface="Calibri"/>
              </a:rPr>
              <a:t>Agents convert and ingest entire documents to answer a single question — every time.</a:t>
            </a:r>
          </a:p>
        </p:txBody>
      </p:sp>
      <p:sp>
        <p:nvSpPr>
          <p:cNvPr id="7" name="Shape"/>
          <p:cNvSpPr/>
          <p:nvPr/>
        </p:nvSpPr>
        <p:spPr>
          <a:xfrm>
            <a:off x="640080" y="29718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_1_4f8fc5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092501"/>
            <a:ext cx="261518" cy="261518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1417320" y="28986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8EAF0"/>
                </a:solidFill>
                <a:latin typeface="Calibri"/>
              </a:rPr>
              <a:t>95%+ never touches the answer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1417320" y="327355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B0"/>
                </a:solidFill>
                <a:latin typeface="Calibri"/>
              </a:rPr>
              <a:t>The relevant clause is 2 pages of 100. The other 98 are pure token spend.</a:t>
            </a:r>
          </a:p>
        </p:txBody>
      </p:sp>
      <p:sp>
        <p:nvSpPr>
          <p:cNvPr id="11" name="Shape"/>
          <p:cNvSpPr/>
          <p:nvPr/>
        </p:nvSpPr>
        <p:spPr>
          <a:xfrm>
            <a:off x="640080" y="43434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1_e78cfa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64101"/>
            <a:ext cx="261518" cy="261518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1417320" y="42702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8EAF0"/>
                </a:solidFill>
                <a:latin typeface="Calibri"/>
              </a:rPr>
              <a:t>And it compounds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1417320" y="4645152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B0"/>
                </a:solidFill>
                <a:latin typeface="Calibri"/>
              </a:rPr>
              <a:t>Every file × every question × every agent × every day. Context windows fill, latency and cost climb.</a:t>
            </a:r>
          </a:p>
        </p:txBody>
      </p:sp>
      <p:sp>
        <p:nvSpPr>
          <p:cNvPr id="15" name="Shape"/>
          <p:cNvSpPr/>
          <p:nvPr/>
        </p:nvSpPr>
        <p:spPr>
          <a:xfrm>
            <a:off x="7223760" y="1600200"/>
            <a:ext cx="4297680" cy="192024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7498080" y="1828800"/>
            <a:ext cx="3749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87171"/>
                </a:solidFill>
                <a:latin typeface="Calibri"/>
              </a:rPr>
              <a:t>$61 → $2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7498080" y="2606040"/>
            <a:ext cx="3749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per 1,000 reads of one 100-page document</a:t>
            </a:r>
          </a:p>
          <a:p>
            <a:r>
              <a:rPr sz="1200" b="0">
                <a:solidFill>
                  <a:srgbClr val="9AA0B0"/>
                </a:solidFill>
                <a:latin typeface="Calibri"/>
              </a:rPr>
              <a:t>(at $3/Mtok input — demo cost meter default)</a:t>
            </a:r>
          </a:p>
        </p:txBody>
      </p:sp>
      <p:sp>
        <p:nvSpPr>
          <p:cNvPr id="18" name="Shape"/>
          <p:cNvSpPr/>
          <p:nvPr/>
        </p:nvSpPr>
        <p:spPr>
          <a:xfrm>
            <a:off x="7223760" y="3794760"/>
            <a:ext cx="4297680" cy="192024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7498080" y="4023360"/>
            <a:ext cx="3749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87171"/>
                </a:solidFill>
                <a:latin typeface="Calibri"/>
              </a:rPr>
              <a:t>95%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498080" y="4800600"/>
            <a:ext cx="3749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of file tokens are wasted per task —</a:t>
            </a:r>
          </a:p>
          <a:p>
            <a:r>
              <a:rPr sz="1200" b="0">
                <a:solidFill>
                  <a:srgbClr val="9AA0B0"/>
                </a:solidFill>
                <a:latin typeface="Calibri"/>
              </a:rPr>
              <a:t>across pdf, docx, xlsx, pptx, images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EAF0"/>
                </a:solidFill>
                <a:latin typeface="Calibri"/>
              </a:rPr>
              <a:t>Who buys, why now, where we wedge</a:t>
            </a:r>
          </a:p>
        </p:txBody>
      </p:sp>
      <p:sp>
        <p:nvSpPr>
          <p:cNvPr id="3" name="Shape"/>
          <p:cNvSpPr/>
          <p:nvPr/>
        </p:nvSpPr>
        <p:spPr>
          <a:xfrm>
            <a:off x="640080" y="137160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"/>
          <p:cNvSpPr/>
          <p:nvPr/>
        </p:nvSpPr>
        <p:spPr>
          <a:xfrm>
            <a:off x="640080" y="1371600"/>
            <a:ext cx="5394960" cy="45720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Who buys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914400" y="21031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8EAF0"/>
                </a:solidFill>
                <a:latin typeface="Calibri"/>
              </a:rPr>
              <a:t>Teams wiring coding and document agents — Cursor, Claude Code, Codex, and internal agent platforms.</a:t>
            </a:r>
          </a:p>
        </p:txBody>
      </p:sp>
      <p:sp>
        <p:nvSpPr>
          <p:cNvPr id="7" name="Shape"/>
          <p:cNvSpPr/>
          <p:nvPr/>
        </p:nvSpPr>
        <p:spPr>
          <a:xfrm>
            <a:off x="6309360" y="137160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ar"/>
          <p:cNvSpPr/>
          <p:nvPr/>
        </p:nvSpPr>
        <p:spPr>
          <a:xfrm>
            <a:off x="6309360" y="1371600"/>
            <a:ext cx="539496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6583680" y="16002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4ADE80"/>
                </a:solidFill>
                <a:latin typeface="Calibri"/>
              </a:rPr>
              <a:t>Why now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6583680" y="21031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8EAF0"/>
                </a:solidFill>
                <a:latin typeface="Calibri"/>
              </a:rPr>
              <a:t>MCP is the distribution rail. Context windows + $/Mtok make whole-file reads expensive. Agents re-read the same docs across tasks.</a:t>
            </a:r>
          </a:p>
        </p:txBody>
      </p:sp>
      <p:sp>
        <p:nvSpPr>
          <p:cNvPr id="11" name="Shape"/>
          <p:cNvSpPr/>
          <p:nvPr/>
        </p:nvSpPr>
        <p:spPr>
          <a:xfrm>
            <a:off x="640080" y="388620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ar"/>
          <p:cNvSpPr/>
          <p:nvPr/>
        </p:nvSpPr>
        <p:spPr>
          <a:xfrm>
            <a:off x="640080" y="3886200"/>
            <a:ext cx="5394960" cy="45720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914400" y="4114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Wedge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914400" y="46177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8EAF0"/>
                </a:solidFill>
                <a:latin typeface="Calibri"/>
              </a:rPr>
              <a:t>A task-budgeted file prep layer — not a full RAG platform. One job: select what the agent needs under a hard token budget.</a:t>
            </a:r>
          </a:p>
        </p:txBody>
      </p:sp>
      <p:sp>
        <p:nvSpPr>
          <p:cNvPr id="15" name="Shape"/>
          <p:cNvSpPr/>
          <p:nvPr/>
        </p:nvSpPr>
        <p:spPr>
          <a:xfrm>
            <a:off x="6309360" y="388620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ar"/>
          <p:cNvSpPr/>
          <p:nvPr/>
        </p:nvSpPr>
        <p:spPr>
          <a:xfrm>
            <a:off x="6309360" y="3886200"/>
            <a:ext cx="5394960" cy="457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6583680" y="4114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87171"/>
                </a:solidFill>
                <a:latin typeface="Calibri"/>
              </a:rPr>
              <a:t>Vs converters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583680" y="46177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8EAF0"/>
                </a:solidFill>
                <a:latin typeface="Calibri"/>
              </a:rPr>
              <a:t>Converters: format-in → whole-file-out. We select under budget and return a recoverable omitted-sections manifest.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8EAF0"/>
                </a:solidFill>
                <a:latin typeface="Courier New"/>
              </a:rPr>
              <a:t>compile_context(file, task, budget)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AA0B0"/>
                </a:solidFill>
                <a:latin typeface="Calibri"/>
              </a:rPr>
              <a:t>One tool call in — guaranteed-size, task-relevant markdown out.</a:t>
            </a:r>
          </a:p>
        </p:txBody>
      </p:sp>
      <p:sp>
        <p:nvSpPr>
          <p:cNvPr id="4" name="Shape"/>
          <p:cNvSpPr/>
          <p:nvPr/>
        </p:nvSpPr>
        <p:spPr>
          <a:xfrm>
            <a:off x="640080" y="187452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"/>
          <p:cNvSpPr txBox="1"/>
          <p:nvPr/>
        </p:nvSpPr>
        <p:spPr>
          <a:xfrm>
            <a:off x="822960" y="205740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Convert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822960" y="24688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9AA0B0"/>
                </a:solidFill>
                <a:latin typeface="Calibri"/>
              </a:rPr>
              <a:t>markitdown subprocess</a:t>
            </a:r>
          </a:p>
          <a:p>
            <a:r>
              <a:rPr sz="1150" b="0">
                <a:solidFill>
                  <a:srgbClr val="9AA0B0"/>
                </a:solidFill>
                <a:latin typeface="Calibri"/>
              </a:rPr>
              <a:t>content-hash cache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2560320"/>
            <a:ext cx="320040" cy="19050"/>
          </a:xfrm>
          <a:prstGeom prst="rect">
            <a:avLst/>
          </a:prstGeom>
          <a:solidFill>
            <a:srgbClr val="9A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ape"/>
          <p:cNvSpPr/>
          <p:nvPr/>
        </p:nvSpPr>
        <p:spPr>
          <a:xfrm>
            <a:off x="3474720" y="187452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3657600" y="205740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Chunk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3657600" y="24688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9AA0B0"/>
                </a:solidFill>
                <a:latin typeface="Calibri"/>
              </a:rPr>
              <a:t>heading-aware</a:t>
            </a:r>
          </a:p>
          <a:p>
            <a:r>
              <a:rPr sz="1150" b="0">
                <a:solidFill>
                  <a:srgbClr val="9AA0B0"/>
                </a:solidFill>
                <a:latin typeface="Calibri"/>
              </a:rPr>
              <a:t>tables never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2560320"/>
            <a:ext cx="320040" cy="19050"/>
          </a:xfrm>
          <a:prstGeom prst="rect">
            <a:avLst/>
          </a:prstGeom>
          <a:solidFill>
            <a:srgbClr val="9A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hape"/>
          <p:cNvSpPr/>
          <p:nvPr/>
        </p:nvSpPr>
        <p:spPr>
          <a:xfrm>
            <a:off x="6309360" y="187452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6492240" y="205740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Rank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6492240" y="24688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9AA0B0"/>
                </a:solidFill>
                <a:latin typeface="Calibri"/>
              </a:rPr>
              <a:t>BM25 + query cleanup</a:t>
            </a:r>
          </a:p>
          <a:p>
            <a:r>
              <a:rPr sz="1150" b="0">
                <a:solidFill>
                  <a:srgbClr val="9AA0B0"/>
                </a:solidFill>
                <a:latin typeface="Calibri"/>
              </a:rPr>
              <a:t>stopwords / honorifics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2560320"/>
            <a:ext cx="320040" cy="19050"/>
          </a:xfrm>
          <a:prstGeom prst="rect">
            <a:avLst/>
          </a:prstGeom>
          <a:solidFill>
            <a:srgbClr val="9A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hape"/>
          <p:cNvSpPr/>
          <p:nvPr/>
        </p:nvSpPr>
        <p:spPr>
          <a:xfrm>
            <a:off x="9144000" y="187452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9326880" y="205740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EA8FE"/>
                </a:solidFill>
                <a:latin typeface="Calibri"/>
              </a:rPr>
              <a:t>Pack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9326880" y="24688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9AA0B0"/>
                </a:solidFill>
                <a:latin typeface="Calibri"/>
              </a:rPr>
              <a:t>hard pack under budget</a:t>
            </a:r>
          </a:p>
          <a:p>
            <a:r>
              <a:rPr sz="1150" b="0">
                <a:solidFill>
                  <a:srgbClr val="9AA0B0"/>
                </a:solidFill>
                <a:latin typeface="Calibri"/>
              </a:rPr>
              <a:t>relevance floor</a:t>
            </a:r>
          </a:p>
        </p:txBody>
      </p:sp>
      <p:sp>
        <p:nvSpPr>
          <p:cNvPr id="19" name="Shape"/>
          <p:cNvSpPr/>
          <p:nvPr/>
        </p:nvSpPr>
        <p:spPr>
          <a:xfrm>
            <a:off x="640080" y="379476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hape"/>
          <p:cNvSpPr/>
          <p:nvPr/>
        </p:nvSpPr>
        <p:spPr>
          <a:xfrm>
            <a:off x="914400" y="4069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2_8fcdba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178808"/>
            <a:ext cx="237744" cy="237744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1554480" y="4069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8EAF0"/>
                </a:solidFill>
                <a:latin typeface="Calibri"/>
              </a:rPr>
              <a:t>Plugs into any agent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554480" y="448056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9AA0B0"/>
                </a:solidFill>
                <a:latin typeface="Calibri"/>
              </a:rPr>
              <a:t>MCP server with two tools: compile_context + expand_section. Two lines of config in Cursor, Claude Code, Codex, or Claude Desktop — plus the web demo.</a:t>
            </a:r>
          </a:p>
        </p:txBody>
      </p:sp>
      <p:sp>
        <p:nvSpPr>
          <p:cNvPr id="24" name="Shape"/>
          <p:cNvSpPr/>
          <p:nvPr/>
        </p:nvSpPr>
        <p:spPr>
          <a:xfrm>
            <a:off x="6309360" y="379476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hape"/>
          <p:cNvSpPr/>
          <p:nvPr/>
        </p:nvSpPr>
        <p:spPr>
          <a:xfrm>
            <a:off x="6583680" y="4069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_2_f96418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4178808"/>
            <a:ext cx="237744" cy="237744"/>
          </a:xfrm>
          <a:prstGeom prst="rect">
            <a:avLst/>
          </a:prstGeom>
        </p:spPr>
      </p:pic>
      <p:sp>
        <p:nvSpPr>
          <p:cNvPr id="27" name="Text"/>
          <p:cNvSpPr txBox="1"/>
          <p:nvPr/>
        </p:nvSpPr>
        <p:spPr>
          <a:xfrm>
            <a:off x="7223760" y="4069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8EAF0"/>
                </a:solidFill>
                <a:latin typeface="Calibri"/>
              </a:rPr>
              <a:t>Honest about recall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223760" y="448056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9AA0B0"/>
                </a:solidFill>
                <a:latin typeface="Calibri"/>
              </a:rPr>
              <a:t>Every response ends with a manifest of omitted sections — the agent always knows what it didn't see, and can fetch any section by id via expand_section. Trimming is never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EAF0"/>
                </a:solidFill>
                <a:latin typeface="Calibri"/>
              </a:rPr>
              <a:t>Measured, not promised</a:t>
            </a:r>
          </a:p>
        </p:txBody>
      </p:sp>
      <p:sp>
        <p:nvSpPr>
          <p:cNvPr id="3" name="Shape"/>
          <p:cNvSpPr/>
          <p:nvPr/>
        </p:nvSpPr>
        <p:spPr>
          <a:xfrm>
            <a:off x="640080" y="155448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"/>
          <p:cNvSpPr txBox="1"/>
          <p:nvPr/>
        </p:nvSpPr>
        <p:spPr>
          <a:xfrm>
            <a:off x="868680" y="178308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4ADE80"/>
                </a:solidFill>
                <a:latin typeface="Calibri"/>
              </a:rPr>
              <a:t>97.1%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960120" y="2697480"/>
            <a:ext cx="2788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token reduction on a real 78-section docx, answer intact</a:t>
            </a:r>
          </a:p>
        </p:txBody>
      </p:sp>
      <p:sp>
        <p:nvSpPr>
          <p:cNvPr id="6" name="Shape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 txBox="1"/>
          <p:nvPr/>
        </p:nvSpPr>
        <p:spPr>
          <a:xfrm>
            <a:off x="4572000" y="178308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6EA8FE"/>
                </a:solidFill>
                <a:latin typeface="Calibri"/>
              </a:rPr>
              <a:t>34×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4663440" y="2697480"/>
            <a:ext cx="2788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cheaper per read — and cached, so repeat reads are instant</a:t>
            </a:r>
          </a:p>
        </p:txBody>
      </p:sp>
      <p:sp>
        <p:nvSpPr>
          <p:cNvPr id="9" name="Shape"/>
          <p:cNvSpPr/>
          <p:nvPr/>
        </p:nvSpPr>
        <p:spPr>
          <a:xfrm>
            <a:off x="8046720" y="155448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8275320" y="178308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AF0"/>
                </a:solidFill>
                <a:latin typeface="Calibri"/>
              </a:rPr>
              <a:t>Parity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366760" y="2697480"/>
            <a:ext cx="2788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Full file vs compile (+ Include in Prove expands) — dual buttons; not an Agent run</a:t>
            </a:r>
          </a:p>
        </p:txBody>
      </p:sp>
      <p:sp>
        <p:nvSpPr>
          <p:cNvPr id="12" name="Shape"/>
          <p:cNvSpPr/>
          <p:nvPr/>
        </p:nvSpPr>
        <p:spPr>
          <a:xfrm>
            <a:off x="640080" y="3977640"/>
            <a:ext cx="10972800" cy="205740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914400" y="41605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vendor_handbook.docx · “How long do refunds take and who approves large ones?” · budget 1,200</a:t>
            </a:r>
          </a:p>
        </p:txBody>
      </p:sp>
      <p:sp>
        <p:nvSpPr>
          <p:cNvPr id="14" name="Bar"/>
          <p:cNvSpPr/>
          <p:nvPr/>
        </p:nvSpPr>
        <p:spPr>
          <a:xfrm>
            <a:off x="914400" y="4617720"/>
            <a:ext cx="9966960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914400" y="4617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B0A0A"/>
                </a:solidFill>
                <a:latin typeface="Calibri"/>
              </a:rPr>
              <a:t>raw — 20,364 tokens</a:t>
            </a:r>
          </a:p>
        </p:txBody>
      </p:sp>
      <p:sp>
        <p:nvSpPr>
          <p:cNvPr id="16" name="Bar"/>
          <p:cNvSpPr/>
          <p:nvPr/>
        </p:nvSpPr>
        <p:spPr>
          <a:xfrm>
            <a:off x="914400" y="5257800"/>
            <a:ext cx="320040" cy="4572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1371600" y="5257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Calibri"/>
              </a:rPr>
              <a:t>compiled — 591 tokens · answer intact · verified by test suite + recall eval + MCP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EAF0"/>
                </a:solidFill>
                <a:latin typeface="Calibri"/>
              </a:rPr>
              <a:t>What's next</a:t>
            </a:r>
          </a:p>
        </p:txBody>
      </p:sp>
      <p:sp>
        <p:nvSpPr>
          <p:cNvPr id="3" name="Shape"/>
          <p:cNvSpPr/>
          <p:nvPr/>
        </p:nvSpPr>
        <p:spPr>
          <a:xfrm>
            <a:off x="64008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_5_df420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4208"/>
            <a:ext cx="237744" cy="237744"/>
          </a:xfrm>
          <a:prstGeom prst="rect">
            <a:avLst/>
          </a:prstGeom>
        </p:spPr>
      </p:pic>
      <p:sp>
        <p:nvSpPr>
          <p:cNvPr id="5" name="Text"/>
          <p:cNvSpPr txBox="1"/>
          <p:nvPr/>
        </p:nvSpPr>
        <p:spPr>
          <a:xfrm>
            <a:off x="137160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8EAF0"/>
                </a:solidFill>
                <a:latin typeface="Calibri"/>
              </a:rPr>
              <a:t>Local embeddings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1371600" y="18470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Query cleanup + offline recall eval shipped; local embeddings next for paraphrase</a:t>
            </a:r>
          </a:p>
        </p:txBody>
      </p:sp>
      <p:sp>
        <p:nvSpPr>
          <p:cNvPr id="7" name="Shape"/>
          <p:cNvSpPr/>
          <p:nvPr/>
        </p:nvSpPr>
        <p:spPr>
          <a:xfrm>
            <a:off x="640080" y="2697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_5_4a4f87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807208"/>
            <a:ext cx="237744" cy="237744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1371600" y="2651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8EAF0"/>
                </a:solidFill>
                <a:latin typeface="Calibri"/>
              </a:rPr>
              <a:t>Multi-file corpora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1371600" y="29900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Compile across folders; shared conversion-cache gateway for teams</a:t>
            </a:r>
          </a:p>
        </p:txBody>
      </p:sp>
      <p:sp>
        <p:nvSpPr>
          <p:cNvPr id="11" name="Shape"/>
          <p:cNvSpPr/>
          <p:nvPr/>
        </p:nvSpPr>
        <p:spPr>
          <a:xfrm>
            <a:off x="640080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5_7806ad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1371600" y="3794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8EAF0"/>
                </a:solidFill>
                <a:latin typeface="Calibri"/>
              </a:rPr>
              <a:t>Video &amp; audio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1371600" y="41330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Transcription into the same pipeline (deliberately cut for scope, not feasibility)</a:t>
            </a:r>
          </a:p>
        </p:txBody>
      </p:sp>
      <p:sp>
        <p:nvSpPr>
          <p:cNvPr id="15" name="Shape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_5_1c2abd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093208"/>
            <a:ext cx="237744" cy="237744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1371600" y="4937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8EAF0"/>
                </a:solidFill>
                <a:latin typeface="Calibri"/>
              </a:rPr>
              <a:t>npx context-compiler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1371600" y="52760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B0"/>
                </a:solidFill>
                <a:latin typeface="Calibri"/>
              </a:rPr>
              <a:t>One-command install for any MCP client</a:t>
            </a:r>
          </a:p>
        </p:txBody>
      </p:sp>
      <p:sp>
        <p:nvSpPr>
          <p:cNvPr id="19" name="Shape"/>
          <p:cNvSpPr/>
          <p:nvPr/>
        </p:nvSpPr>
        <p:spPr>
          <a:xfrm>
            <a:off x="7223760" y="1554480"/>
            <a:ext cx="4297680" cy="4160520"/>
          </a:xfrm>
          <a:prstGeom prst="roundRect">
            <a:avLst>
              <a:gd name="adj" fmla="val 8000"/>
            </a:avLst>
          </a:prstGeom>
          <a:solidFill>
            <a:srgbClr val="18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7498080" y="196596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8EAF0"/>
                </a:solidFill>
                <a:latin typeface="Calibri"/>
              </a:rPr>
              <a:t>Try it live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498080" y="2514600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EA8FE"/>
                </a:solidFill>
                <a:latin typeface="Courier New"/>
              </a:rPr>
              <a:t>demo:  Docker / Render deploy of this repo</a:t>
            </a:r>
          </a:p>
          <a:p>
            <a:r>
              <a:rPr sz="1200" b="0">
                <a:solidFill>
                  <a:srgbClr val="6EA8FE"/>
                </a:solidFill>
                <a:latin typeface="Courier New"/>
              </a:rPr>
              <a:t>repo:  github.com/shenba1712/context-compiler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498080" y="370332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B0"/>
                </a:solidFill>
                <a:latin typeface="Calibri"/>
              </a:rPr>
              <a:t>Live demo + MCP in Cursor / Claude Code / Codex. Same two tools; prove answer parity on a real doc.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498080" y="4846320"/>
            <a:ext cx="3749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4ADE80"/>
                </a:solidFill>
                <a:latin typeface="Calibri"/>
              </a:rPr>
              <a:t>Stop paying for pages your agent doesn't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