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E8EC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Rectangle 3"/>
          <p:cNvSpPr/>
          <p:nvPr/>
        </p:nvSpPr>
        <p:spPr>
          <a:xfrm>
            <a:off x="594359" y="1417319"/>
            <a:ext cx="6309362" cy="397764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Rectangle 4"/>
          <p:cNvSpPr/>
          <p:nvPr/>
        </p:nvSpPr>
        <p:spPr>
          <a:xfrm>
            <a:off x="594359" y="1417319"/>
            <a:ext cx="6309362" cy="73153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8" name="TextBox 5"/>
          <p:cNvSpPr txBox="1"/>
          <p:nvPr/>
        </p:nvSpPr>
        <p:spPr>
          <a:xfrm>
            <a:off x="914400" y="1737360"/>
            <a:ext cx="4938599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4200">
                <a:solidFill>
                  <a:srgbClr val="1A221E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Context </a:t>
            </a:r>
            <a:r>
              <a:rPr>
                <a:solidFill>
                  <a:srgbClr val="1F5C42"/>
                </a:solidFill>
              </a:rPr>
              <a:t>Compiler</a:t>
            </a:r>
          </a:p>
        </p:txBody>
      </p:sp>
      <p:sp>
        <p:nvSpPr>
          <p:cNvPr id="99" name="TextBox 6"/>
          <p:cNvSpPr txBox="1"/>
          <p:nvPr/>
        </p:nvSpPr>
        <p:spPr>
          <a:xfrm>
            <a:off x="914400" y="2606039"/>
            <a:ext cx="557784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WORKS IN YOUR AGENT  ·  RUNS OFFLINE  ·  NO KEY TO COMPILE</a:t>
            </a:r>
          </a:p>
        </p:txBody>
      </p:sp>
      <p:sp>
        <p:nvSpPr>
          <p:cNvPr id="100" name="TextBox 7"/>
          <p:cNvSpPr txBox="1"/>
          <p:nvPr/>
        </p:nvSpPr>
        <p:spPr>
          <a:xfrm>
            <a:off x="914400" y="3063239"/>
            <a:ext cx="5577840" cy="828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Same answer. About 3% of the tokens.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914399" y="3703320"/>
            <a:ext cx="548640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Give it a file, a question, and a token budget. It returns the useful parts as markdown, and a clear list of what it left out.</a:t>
            </a:r>
          </a:p>
        </p:txBody>
      </p:sp>
      <p:sp>
        <p:nvSpPr>
          <p:cNvPr id="102" name="TextBox 9"/>
          <p:cNvSpPr txBox="1"/>
          <p:nvPr/>
        </p:nvSpPr>
        <p:spPr>
          <a:xfrm>
            <a:off x="640079" y="6309359"/>
            <a:ext cx="108813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5C6B6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OpenAI × NamasteDev Codex Hackathon  ·  July 2026  ·  solo build</a:t>
            </a:r>
          </a:p>
        </p:txBody>
      </p:sp>
      <p:sp>
        <p:nvSpPr>
          <p:cNvPr id="103" name="Rectangle 10"/>
          <p:cNvSpPr/>
          <p:nvPr/>
        </p:nvSpPr>
        <p:spPr>
          <a:xfrm>
            <a:off x="7315200" y="1417319"/>
            <a:ext cx="4297680" cy="3977640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TextBox 11"/>
          <p:cNvSpPr txBox="1"/>
          <p:nvPr/>
        </p:nvSpPr>
        <p:spPr>
          <a:xfrm>
            <a:off x="7635239" y="1645920"/>
            <a:ext cx="374904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One real handbook · one refunds question</a:t>
            </a:r>
          </a:p>
        </p:txBody>
      </p:sp>
      <p:sp>
        <p:nvSpPr>
          <p:cNvPr id="105" name="TextBox 12"/>
          <p:cNvSpPr txBox="1"/>
          <p:nvPr/>
        </p:nvSpPr>
        <p:spPr>
          <a:xfrm>
            <a:off x="7635239" y="2194560"/>
            <a:ext cx="210312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E8F0EB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Whole file</a:t>
            </a:r>
          </a:p>
        </p:txBody>
      </p:sp>
      <p:sp>
        <p:nvSpPr>
          <p:cNvPr id="106" name="TextBox 13"/>
          <p:cNvSpPr txBox="1"/>
          <p:nvPr/>
        </p:nvSpPr>
        <p:spPr>
          <a:xfrm>
            <a:off x="9646919" y="2194560"/>
            <a:ext cx="164592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E8F0E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20,364 tokens</a:t>
            </a:r>
          </a:p>
        </p:txBody>
      </p:sp>
      <p:sp>
        <p:nvSpPr>
          <p:cNvPr id="107" name="Rectangle 14"/>
          <p:cNvSpPr/>
          <p:nvPr/>
        </p:nvSpPr>
        <p:spPr>
          <a:xfrm>
            <a:off x="7589519" y="2560320"/>
            <a:ext cx="3749040" cy="164593"/>
          </a:xfrm>
          <a:prstGeom prst="rect">
            <a:avLst/>
          </a:prstGeom>
          <a:solidFill>
            <a:srgbClr val="2A4A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Rectangle 15"/>
          <p:cNvSpPr/>
          <p:nvPr/>
        </p:nvSpPr>
        <p:spPr>
          <a:xfrm>
            <a:off x="7589519" y="2560320"/>
            <a:ext cx="3749040" cy="164593"/>
          </a:xfrm>
          <a:prstGeom prst="rect">
            <a:avLst/>
          </a:prstGeom>
          <a:solidFill>
            <a:srgbClr val="9AAB9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" name="TextBox 16"/>
          <p:cNvSpPr txBox="1"/>
          <p:nvPr/>
        </p:nvSpPr>
        <p:spPr>
          <a:xfrm>
            <a:off x="7635239" y="2971800"/>
            <a:ext cx="2103121" cy="294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E8F0EB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Compiled</a:t>
            </a:r>
          </a:p>
        </p:txBody>
      </p:sp>
      <p:sp>
        <p:nvSpPr>
          <p:cNvPr id="110" name="TextBox 17"/>
          <p:cNvSpPr txBox="1"/>
          <p:nvPr/>
        </p:nvSpPr>
        <p:spPr>
          <a:xfrm>
            <a:off x="9646919" y="2971800"/>
            <a:ext cx="1645921" cy="269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E8F0E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591 tokens</a:t>
            </a:r>
          </a:p>
        </p:txBody>
      </p:sp>
      <p:sp>
        <p:nvSpPr>
          <p:cNvPr id="111" name="Rectangle 18"/>
          <p:cNvSpPr/>
          <p:nvPr/>
        </p:nvSpPr>
        <p:spPr>
          <a:xfrm>
            <a:off x="7589519" y="3337559"/>
            <a:ext cx="3749040" cy="164593"/>
          </a:xfrm>
          <a:prstGeom prst="rect">
            <a:avLst/>
          </a:prstGeom>
          <a:solidFill>
            <a:srgbClr val="2A4A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Rectangle 19"/>
          <p:cNvSpPr/>
          <p:nvPr/>
        </p:nvSpPr>
        <p:spPr>
          <a:xfrm>
            <a:off x="7589519" y="3337559"/>
            <a:ext cx="164593" cy="164593"/>
          </a:xfrm>
          <a:prstGeom prst="rect">
            <a:avLst/>
          </a:prstGeom>
          <a:solidFill>
            <a:srgbClr val="8FCEB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TextBox 20"/>
          <p:cNvSpPr txBox="1"/>
          <p:nvPr/>
        </p:nvSpPr>
        <p:spPr>
          <a:xfrm>
            <a:off x="7635239" y="3794759"/>
            <a:ext cx="3749041" cy="104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2200">
                <a:solidFill>
                  <a:srgbClr val="E8F0EB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97% fewer tokens</a:t>
            </a:r>
          </a:p>
          <a:p>
            <a:pPr>
              <a:spcBef>
                <a:spcPts val="800"/>
              </a:spcBef>
              <a:defRPr sz="14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Same facts. Every read.</a:t>
            </a:r>
          </a:p>
          <a:p>
            <a:pPr>
              <a:spcBef>
                <a:spcPts val="1200"/>
              </a:spcBef>
              <a:defRPr sz="11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Checked with tests, a recall eval, and live runs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E8EC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7" name="TextBox 3"/>
          <p:cNvSpPr txBox="1"/>
          <p:nvPr/>
        </p:nvSpPr>
        <p:spPr>
          <a:xfrm>
            <a:off x="640079" y="292608"/>
            <a:ext cx="108813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THE HABIT</a:t>
            </a:r>
          </a:p>
        </p:txBody>
      </p:sp>
      <p:sp>
        <p:nvSpPr>
          <p:cNvPr id="118" name="TextBox 4"/>
          <p:cNvSpPr txBox="1"/>
          <p:nvPr/>
        </p:nvSpPr>
        <p:spPr>
          <a:xfrm>
            <a:off x="640079" y="548640"/>
            <a:ext cx="10881361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A221E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Agents pay to read pages they don’t need</a:t>
            </a:r>
          </a:p>
        </p:txBody>
      </p:sp>
      <p:sp>
        <p:nvSpPr>
          <p:cNvPr id="119" name="Rectangle 5"/>
          <p:cNvSpPr/>
          <p:nvPr/>
        </p:nvSpPr>
        <p:spPr>
          <a:xfrm>
            <a:off x="594359" y="1325880"/>
            <a:ext cx="6400801" cy="1097281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Rectangle 6"/>
          <p:cNvSpPr/>
          <p:nvPr/>
        </p:nvSpPr>
        <p:spPr>
          <a:xfrm>
            <a:off x="594359" y="1325880"/>
            <a:ext cx="91441" cy="1097281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TextBox 7"/>
          <p:cNvSpPr txBox="1"/>
          <p:nvPr/>
        </p:nvSpPr>
        <p:spPr>
          <a:xfrm>
            <a:off x="960119" y="1490472"/>
            <a:ext cx="41148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22" name="TextBox 8"/>
          <p:cNvSpPr txBox="1"/>
          <p:nvPr/>
        </p:nvSpPr>
        <p:spPr>
          <a:xfrm>
            <a:off x="1463039" y="1490472"/>
            <a:ext cx="5212081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Whole-file habit</a:t>
            </a:r>
          </a:p>
        </p:txBody>
      </p:sp>
      <p:sp>
        <p:nvSpPr>
          <p:cNvPr id="123" name="TextBox 9"/>
          <p:cNvSpPr txBox="1"/>
          <p:nvPr/>
        </p:nvSpPr>
        <p:spPr>
          <a:xfrm>
            <a:off x="1463039" y="1828800"/>
            <a:ext cx="5212081" cy="523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Agents often load an entire document to answer one question. Every time.</a:t>
            </a:r>
          </a:p>
        </p:txBody>
      </p:sp>
      <p:sp>
        <p:nvSpPr>
          <p:cNvPr id="124" name="Rectangle 10"/>
          <p:cNvSpPr/>
          <p:nvPr/>
        </p:nvSpPr>
        <p:spPr>
          <a:xfrm>
            <a:off x="594359" y="2560320"/>
            <a:ext cx="6400801" cy="1097281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Rectangle 11"/>
          <p:cNvSpPr/>
          <p:nvPr/>
        </p:nvSpPr>
        <p:spPr>
          <a:xfrm>
            <a:off x="594359" y="2560320"/>
            <a:ext cx="91441" cy="1097281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12"/>
          <p:cNvSpPr txBox="1"/>
          <p:nvPr/>
        </p:nvSpPr>
        <p:spPr>
          <a:xfrm>
            <a:off x="960119" y="2724911"/>
            <a:ext cx="41148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27" name="TextBox 13"/>
          <p:cNvSpPr txBox="1"/>
          <p:nvPr/>
        </p:nvSpPr>
        <p:spPr>
          <a:xfrm>
            <a:off x="1463039" y="2724911"/>
            <a:ext cx="5212081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Most of it is unused</a:t>
            </a:r>
          </a:p>
        </p:txBody>
      </p:sp>
      <p:sp>
        <p:nvSpPr>
          <p:cNvPr id="128" name="TextBox 14"/>
          <p:cNvSpPr txBox="1"/>
          <p:nvPr/>
        </p:nvSpPr>
        <p:spPr>
          <a:xfrm>
            <a:off x="1463039" y="3063239"/>
            <a:ext cx="5212081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The useful clause might be 2 pages of 100. The other 98 are pure token spend.</a:t>
            </a:r>
          </a:p>
        </p:txBody>
      </p:sp>
      <p:sp>
        <p:nvSpPr>
          <p:cNvPr id="129" name="Rectangle 15"/>
          <p:cNvSpPr/>
          <p:nvPr/>
        </p:nvSpPr>
        <p:spPr>
          <a:xfrm>
            <a:off x="594359" y="3794759"/>
            <a:ext cx="6400801" cy="1097281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Rectangle 16"/>
          <p:cNvSpPr/>
          <p:nvPr/>
        </p:nvSpPr>
        <p:spPr>
          <a:xfrm>
            <a:off x="594359" y="3794759"/>
            <a:ext cx="91441" cy="1097281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1" name="TextBox 17"/>
          <p:cNvSpPr txBox="1"/>
          <p:nvPr/>
        </p:nvSpPr>
        <p:spPr>
          <a:xfrm>
            <a:off x="960119" y="3959352"/>
            <a:ext cx="41148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132" name="TextBox 18"/>
          <p:cNvSpPr txBox="1"/>
          <p:nvPr/>
        </p:nvSpPr>
        <p:spPr>
          <a:xfrm>
            <a:off x="1463039" y="3959352"/>
            <a:ext cx="5212081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It adds up fast</a:t>
            </a:r>
          </a:p>
        </p:txBody>
      </p:sp>
      <p:sp>
        <p:nvSpPr>
          <p:cNvPr id="133" name="TextBox 19"/>
          <p:cNvSpPr txBox="1"/>
          <p:nvPr/>
        </p:nvSpPr>
        <p:spPr>
          <a:xfrm>
            <a:off x="1463039" y="4297679"/>
            <a:ext cx="5212081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Every file × every question × every agent × every day. Cost and latency climb together.</a:t>
            </a:r>
          </a:p>
        </p:txBody>
      </p:sp>
      <p:sp>
        <p:nvSpPr>
          <p:cNvPr id="134" name="Rectangle 20"/>
          <p:cNvSpPr/>
          <p:nvPr/>
        </p:nvSpPr>
        <p:spPr>
          <a:xfrm>
            <a:off x="7360919" y="1325880"/>
            <a:ext cx="4251961" cy="1965961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21"/>
          <p:cNvSpPr txBox="1"/>
          <p:nvPr/>
        </p:nvSpPr>
        <p:spPr>
          <a:xfrm>
            <a:off x="7680959" y="1645920"/>
            <a:ext cx="3657600" cy="57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E8F0EB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$61 → $2</a:t>
            </a:r>
          </a:p>
        </p:txBody>
      </p:sp>
      <p:sp>
        <p:nvSpPr>
          <p:cNvPr id="136" name="TextBox 22"/>
          <p:cNvSpPr txBox="1"/>
          <p:nvPr/>
        </p:nvSpPr>
        <p:spPr>
          <a:xfrm>
            <a:off x="7680959" y="2377439"/>
            <a:ext cx="3657600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per 1,000 reads of one 100-page document (at $3 per million input tokens; demo cost meter default)</a:t>
            </a:r>
          </a:p>
        </p:txBody>
      </p:sp>
      <p:sp>
        <p:nvSpPr>
          <p:cNvPr id="137" name="Rectangle 23"/>
          <p:cNvSpPr/>
          <p:nvPr/>
        </p:nvSpPr>
        <p:spPr>
          <a:xfrm>
            <a:off x="7360919" y="3474720"/>
            <a:ext cx="4251961" cy="1965961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8" name="Rectangle 24"/>
          <p:cNvSpPr/>
          <p:nvPr/>
        </p:nvSpPr>
        <p:spPr>
          <a:xfrm>
            <a:off x="7360919" y="3474720"/>
            <a:ext cx="4251961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9" name="TextBox 25"/>
          <p:cNvSpPr txBox="1"/>
          <p:nvPr/>
        </p:nvSpPr>
        <p:spPr>
          <a:xfrm>
            <a:off x="7680959" y="3794759"/>
            <a:ext cx="3657600" cy="57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400">
                <a:solidFill>
                  <a:srgbClr val="1F5C42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~95%</a:t>
            </a:r>
          </a:p>
        </p:txBody>
      </p:sp>
      <p:sp>
        <p:nvSpPr>
          <p:cNvPr id="140" name="TextBox 26"/>
          <p:cNvSpPr txBox="1"/>
          <p:nvPr/>
        </p:nvSpPr>
        <p:spPr>
          <a:xfrm>
            <a:off x="7680959" y="4526279"/>
            <a:ext cx="3657600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of file tokens often unused for a single task, across pdf, docx, xlsx, pptx, and images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E8EC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3"/>
          <p:cNvSpPr txBox="1"/>
          <p:nvPr/>
        </p:nvSpPr>
        <p:spPr>
          <a:xfrm>
            <a:off x="640079" y="292608"/>
            <a:ext cx="108813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FIT</a:t>
            </a:r>
          </a:p>
        </p:txBody>
      </p:sp>
      <p:sp>
        <p:nvSpPr>
          <p:cNvPr id="145" name="TextBox 4"/>
          <p:cNvSpPr txBox="1"/>
          <p:nvPr/>
        </p:nvSpPr>
        <p:spPr>
          <a:xfrm>
            <a:off x="640079" y="548640"/>
            <a:ext cx="10881361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A221E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Who it’s for, and where it fits</a:t>
            </a:r>
          </a:p>
        </p:txBody>
      </p:sp>
      <p:sp>
        <p:nvSpPr>
          <p:cNvPr id="146" name="TextBox 5"/>
          <p:cNvSpPr txBox="1"/>
          <p:nvPr/>
        </p:nvSpPr>
        <p:spPr>
          <a:xfrm>
            <a:off x="640079" y="1097280"/>
            <a:ext cx="108813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Plain version: who needs this, why we built it, what’s different, and how it sits next to converters.</a:t>
            </a:r>
          </a:p>
        </p:txBody>
      </p:sp>
      <p:sp>
        <p:nvSpPr>
          <p:cNvPr id="147" name="Rectangle 6"/>
          <p:cNvSpPr/>
          <p:nvPr/>
        </p:nvSpPr>
        <p:spPr>
          <a:xfrm>
            <a:off x="594359" y="1645920"/>
            <a:ext cx="5303522" cy="20116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8" name="Rectangle 7"/>
          <p:cNvSpPr/>
          <p:nvPr/>
        </p:nvSpPr>
        <p:spPr>
          <a:xfrm>
            <a:off x="594359" y="1645920"/>
            <a:ext cx="5303522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9" name="TextBox 8"/>
          <p:cNvSpPr txBox="1"/>
          <p:nvPr/>
        </p:nvSpPr>
        <p:spPr>
          <a:xfrm>
            <a:off x="914400" y="1920239"/>
            <a:ext cx="4663440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F5C4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Who</a:t>
            </a:r>
          </a:p>
        </p:txBody>
      </p:sp>
      <p:sp>
        <p:nvSpPr>
          <p:cNvPr id="150" name="TextBox 9"/>
          <p:cNvSpPr txBox="1"/>
          <p:nvPr/>
        </p:nvSpPr>
        <p:spPr>
          <a:xfrm>
            <a:off x="914400" y="2423160"/>
            <a:ext cx="4663440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People building coding and document agents. Cursor, Claude Code, Codex, and internal agent platforms.</a:t>
            </a:r>
          </a:p>
        </p:txBody>
      </p:sp>
      <p:sp>
        <p:nvSpPr>
          <p:cNvPr id="151" name="Rectangle 10"/>
          <p:cNvSpPr/>
          <p:nvPr/>
        </p:nvSpPr>
        <p:spPr>
          <a:xfrm>
            <a:off x="6263640" y="1645920"/>
            <a:ext cx="5303521" cy="20116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2" name="Rectangle 11"/>
          <p:cNvSpPr/>
          <p:nvPr/>
        </p:nvSpPr>
        <p:spPr>
          <a:xfrm>
            <a:off x="6263640" y="1645920"/>
            <a:ext cx="5303521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3" name="TextBox 12"/>
          <p:cNvSpPr txBox="1"/>
          <p:nvPr/>
        </p:nvSpPr>
        <p:spPr>
          <a:xfrm>
            <a:off x="6583679" y="1920239"/>
            <a:ext cx="4663441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F5C4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Why it exists</a:t>
            </a:r>
          </a:p>
        </p:txBody>
      </p:sp>
      <p:sp>
        <p:nvSpPr>
          <p:cNvPr id="154" name="TextBox 13"/>
          <p:cNvSpPr txBox="1"/>
          <p:nvPr/>
        </p:nvSpPr>
        <p:spPr>
          <a:xfrm>
            <a:off x="6583679" y="2423160"/>
            <a:ext cx="4663441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Whole-file reads are getting expensive. Agents keep reopening the same manuals and reports for different questions.</a:t>
            </a:r>
          </a:p>
        </p:txBody>
      </p:sp>
      <p:sp>
        <p:nvSpPr>
          <p:cNvPr id="155" name="Rectangle 14"/>
          <p:cNvSpPr/>
          <p:nvPr/>
        </p:nvSpPr>
        <p:spPr>
          <a:xfrm>
            <a:off x="594359" y="3977638"/>
            <a:ext cx="5303522" cy="2011680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6" name="TextBox 15"/>
          <p:cNvSpPr txBox="1"/>
          <p:nvPr/>
        </p:nvSpPr>
        <p:spPr>
          <a:xfrm>
            <a:off x="914400" y="4251959"/>
            <a:ext cx="4663440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E8F0EB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What’s different</a:t>
            </a:r>
          </a:p>
        </p:txBody>
      </p:sp>
      <p:sp>
        <p:nvSpPr>
          <p:cNvPr id="157" name="TextBox 16"/>
          <p:cNvSpPr txBox="1"/>
          <p:nvPr/>
        </p:nvSpPr>
        <p:spPr>
          <a:xfrm>
            <a:off x="914400" y="4754879"/>
            <a:ext cx="4663440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One job. Pick what the agent needs under a token budget. Not a full search platform.</a:t>
            </a:r>
          </a:p>
        </p:txBody>
      </p:sp>
      <p:sp>
        <p:nvSpPr>
          <p:cNvPr id="158" name="Rectangle 17"/>
          <p:cNvSpPr/>
          <p:nvPr/>
        </p:nvSpPr>
        <p:spPr>
          <a:xfrm>
            <a:off x="6263640" y="3977638"/>
            <a:ext cx="5303521" cy="201168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Rectangle 18"/>
          <p:cNvSpPr/>
          <p:nvPr/>
        </p:nvSpPr>
        <p:spPr>
          <a:xfrm>
            <a:off x="6263640" y="3977638"/>
            <a:ext cx="5303521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0" name="TextBox 19"/>
          <p:cNvSpPr txBox="1"/>
          <p:nvPr/>
        </p:nvSpPr>
        <p:spPr>
          <a:xfrm>
            <a:off x="6583679" y="4251959"/>
            <a:ext cx="4663441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F5C42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Where it fits</a:t>
            </a:r>
          </a:p>
        </p:txBody>
      </p:sp>
      <p:sp>
        <p:nvSpPr>
          <p:cNvPr id="161" name="TextBox 20"/>
          <p:cNvSpPr txBox="1"/>
          <p:nvPr/>
        </p:nvSpPr>
        <p:spPr>
          <a:xfrm>
            <a:off x="6583679" y="4754879"/>
            <a:ext cx="4663441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Converters turn a file into text of the whole thing. We select under a budget and tell you what was left out, so you can pull more if needed.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E8EC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4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TextBox 3"/>
          <p:cNvSpPr txBox="1"/>
          <p:nvPr/>
        </p:nvSpPr>
        <p:spPr>
          <a:xfrm>
            <a:off x="640079" y="292608"/>
            <a:ext cx="108813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PIPELINE</a:t>
            </a:r>
          </a:p>
        </p:txBody>
      </p:sp>
      <p:sp>
        <p:nvSpPr>
          <p:cNvPr id="166" name="TextBox 4"/>
          <p:cNvSpPr txBox="1"/>
          <p:nvPr/>
        </p:nvSpPr>
        <p:spPr>
          <a:xfrm>
            <a:off x="640079" y="548640"/>
            <a:ext cx="1088136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600">
                <a:solidFill>
                  <a:srgbClr val="1A221E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File in. Useful parts out. Under your budget.</a:t>
            </a:r>
          </a:p>
        </p:txBody>
      </p:sp>
      <p:sp>
        <p:nvSpPr>
          <p:cNvPr id="167" name="TextBox 5"/>
          <p:cNvSpPr txBox="1"/>
          <p:nvPr/>
        </p:nvSpPr>
        <p:spPr>
          <a:xfrm>
            <a:off x="640079" y="1051560"/>
            <a:ext cx="108813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You set the ceiling. The agent gets markdown it can read, plus a list of skipped sections.</a:t>
            </a:r>
          </a:p>
        </p:txBody>
      </p:sp>
      <p:sp>
        <p:nvSpPr>
          <p:cNvPr id="168" name="Rectangle 6"/>
          <p:cNvSpPr/>
          <p:nvPr/>
        </p:nvSpPr>
        <p:spPr>
          <a:xfrm>
            <a:off x="594359" y="1554480"/>
            <a:ext cx="2514601" cy="1874518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7"/>
          <p:cNvSpPr/>
          <p:nvPr/>
        </p:nvSpPr>
        <p:spPr>
          <a:xfrm>
            <a:off x="594359" y="1554480"/>
            <a:ext cx="2514601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8"/>
          <p:cNvSpPr txBox="1"/>
          <p:nvPr/>
        </p:nvSpPr>
        <p:spPr>
          <a:xfrm>
            <a:off x="822959" y="1737360"/>
            <a:ext cx="2103122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1" name="TextBox 9"/>
          <p:cNvSpPr txBox="1"/>
          <p:nvPr/>
        </p:nvSpPr>
        <p:spPr>
          <a:xfrm>
            <a:off x="822959" y="2057400"/>
            <a:ext cx="2103122" cy="345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Convert</a:t>
            </a:r>
          </a:p>
        </p:txBody>
      </p:sp>
      <p:sp>
        <p:nvSpPr>
          <p:cNvPr id="172" name="TextBox 10"/>
          <p:cNvSpPr txBox="1"/>
          <p:nvPr/>
        </p:nvSpPr>
        <p:spPr>
          <a:xfrm>
            <a:off x="822959" y="2468879"/>
            <a:ext cx="2103122" cy="904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Turn the file into markdown. Cache by content so repeats are cheap.</a:t>
            </a:r>
          </a:p>
        </p:txBody>
      </p:sp>
      <p:sp>
        <p:nvSpPr>
          <p:cNvPr id="173" name="Rectangle 11"/>
          <p:cNvSpPr/>
          <p:nvPr/>
        </p:nvSpPr>
        <p:spPr>
          <a:xfrm>
            <a:off x="3127248" y="2377439"/>
            <a:ext cx="146305" cy="36577"/>
          </a:xfrm>
          <a:prstGeom prst="rect">
            <a:avLst/>
          </a:prstGeom>
          <a:solidFill>
            <a:srgbClr val="A8B9A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4" name="Rectangle 12"/>
          <p:cNvSpPr/>
          <p:nvPr/>
        </p:nvSpPr>
        <p:spPr>
          <a:xfrm>
            <a:off x="3291840" y="1554480"/>
            <a:ext cx="2514601" cy="1874518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Rectangle 13"/>
          <p:cNvSpPr/>
          <p:nvPr/>
        </p:nvSpPr>
        <p:spPr>
          <a:xfrm>
            <a:off x="3291840" y="1554480"/>
            <a:ext cx="2514601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TextBox 14"/>
          <p:cNvSpPr txBox="1"/>
          <p:nvPr/>
        </p:nvSpPr>
        <p:spPr>
          <a:xfrm>
            <a:off x="3520440" y="1737360"/>
            <a:ext cx="210312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77" name="TextBox 15"/>
          <p:cNvSpPr txBox="1"/>
          <p:nvPr/>
        </p:nvSpPr>
        <p:spPr>
          <a:xfrm>
            <a:off x="3520440" y="2057400"/>
            <a:ext cx="2103121" cy="345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Split</a:t>
            </a:r>
          </a:p>
        </p:txBody>
      </p:sp>
      <p:sp>
        <p:nvSpPr>
          <p:cNvPr id="178" name="TextBox 16"/>
          <p:cNvSpPr txBox="1"/>
          <p:nvPr/>
        </p:nvSpPr>
        <p:spPr>
          <a:xfrm>
            <a:off x="3520440" y="2468879"/>
            <a:ext cx="2103121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Break on headings. Keep tables whole.</a:t>
            </a:r>
          </a:p>
        </p:txBody>
      </p:sp>
      <p:sp>
        <p:nvSpPr>
          <p:cNvPr id="179" name="Rectangle 17"/>
          <p:cNvSpPr/>
          <p:nvPr/>
        </p:nvSpPr>
        <p:spPr>
          <a:xfrm>
            <a:off x="5824728" y="2377439"/>
            <a:ext cx="146305" cy="36577"/>
          </a:xfrm>
          <a:prstGeom prst="rect">
            <a:avLst/>
          </a:prstGeom>
          <a:solidFill>
            <a:srgbClr val="A8B9A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0" name="Rectangle 18"/>
          <p:cNvSpPr/>
          <p:nvPr/>
        </p:nvSpPr>
        <p:spPr>
          <a:xfrm>
            <a:off x="5989320" y="1554480"/>
            <a:ext cx="2514601" cy="1874518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Rectangle 19"/>
          <p:cNvSpPr/>
          <p:nvPr/>
        </p:nvSpPr>
        <p:spPr>
          <a:xfrm>
            <a:off x="5989320" y="1554480"/>
            <a:ext cx="2514601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TextBox 20"/>
          <p:cNvSpPr txBox="1"/>
          <p:nvPr/>
        </p:nvSpPr>
        <p:spPr>
          <a:xfrm>
            <a:off x="6217920" y="1737360"/>
            <a:ext cx="210312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83" name="TextBox 21"/>
          <p:cNvSpPr txBox="1"/>
          <p:nvPr/>
        </p:nvSpPr>
        <p:spPr>
          <a:xfrm>
            <a:off x="6217920" y="2057400"/>
            <a:ext cx="2103121" cy="345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Rank</a:t>
            </a:r>
          </a:p>
        </p:txBody>
      </p:sp>
      <p:sp>
        <p:nvSpPr>
          <p:cNvPr id="184" name="TextBox 22"/>
          <p:cNvSpPr txBox="1"/>
          <p:nvPr/>
        </p:nvSpPr>
        <p:spPr>
          <a:xfrm>
            <a:off x="6217920" y="2468879"/>
            <a:ext cx="2103121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Match sections to the question on your machine. No model call to compile.</a:t>
            </a:r>
          </a:p>
        </p:txBody>
      </p:sp>
      <p:sp>
        <p:nvSpPr>
          <p:cNvPr id="185" name="Rectangle 23"/>
          <p:cNvSpPr/>
          <p:nvPr/>
        </p:nvSpPr>
        <p:spPr>
          <a:xfrm>
            <a:off x="8522207" y="2377439"/>
            <a:ext cx="146305" cy="36577"/>
          </a:xfrm>
          <a:prstGeom prst="rect">
            <a:avLst/>
          </a:prstGeom>
          <a:solidFill>
            <a:srgbClr val="A8B9A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6" name="Rectangle 24"/>
          <p:cNvSpPr/>
          <p:nvPr/>
        </p:nvSpPr>
        <p:spPr>
          <a:xfrm>
            <a:off x="8686800" y="1554480"/>
            <a:ext cx="2514600" cy="1874518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7" name="Rectangle 25"/>
          <p:cNvSpPr/>
          <p:nvPr/>
        </p:nvSpPr>
        <p:spPr>
          <a:xfrm>
            <a:off x="8686800" y="1554480"/>
            <a:ext cx="2514600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8" name="TextBox 26"/>
          <p:cNvSpPr txBox="1"/>
          <p:nvPr/>
        </p:nvSpPr>
        <p:spPr>
          <a:xfrm>
            <a:off x="8915400" y="1737360"/>
            <a:ext cx="210312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89" name="TextBox 27"/>
          <p:cNvSpPr txBox="1"/>
          <p:nvPr/>
        </p:nvSpPr>
        <p:spPr>
          <a:xfrm>
            <a:off x="8915400" y="2057400"/>
            <a:ext cx="2103121" cy="345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Pack</a:t>
            </a:r>
          </a:p>
        </p:txBody>
      </p:sp>
      <p:sp>
        <p:nvSpPr>
          <p:cNvPr id="190" name="TextBox 28"/>
          <p:cNvSpPr txBox="1"/>
          <p:nvPr/>
        </p:nvSpPr>
        <p:spPr>
          <a:xfrm>
            <a:off x="8915400" y="2468879"/>
            <a:ext cx="2103121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Fill the strongest sections first until the question is covered, then stop.</a:t>
            </a:r>
          </a:p>
        </p:txBody>
      </p:sp>
      <p:sp>
        <p:nvSpPr>
          <p:cNvPr id="191" name="Rectangle 29"/>
          <p:cNvSpPr/>
          <p:nvPr/>
        </p:nvSpPr>
        <p:spPr>
          <a:xfrm>
            <a:off x="594359" y="3749038"/>
            <a:ext cx="5303522" cy="2331722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30"/>
          <p:cNvSpPr/>
          <p:nvPr/>
        </p:nvSpPr>
        <p:spPr>
          <a:xfrm>
            <a:off x="594359" y="3749038"/>
            <a:ext cx="91441" cy="2331722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TextBox 31"/>
          <p:cNvSpPr txBox="1"/>
          <p:nvPr/>
        </p:nvSpPr>
        <p:spPr>
          <a:xfrm>
            <a:off x="960120" y="4023359"/>
            <a:ext cx="4617720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Plug in, or try it here</a:t>
            </a:r>
          </a:p>
        </p:txBody>
      </p:sp>
      <p:sp>
        <p:nvSpPr>
          <p:cNvPr id="194" name="TextBox 32"/>
          <p:cNvSpPr txBox="1"/>
          <p:nvPr/>
        </p:nvSpPr>
        <p:spPr>
          <a:xfrm>
            <a:off x="960120" y="4572000"/>
            <a:ext cx="4617720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Works with Cursor, Claude Code, Codex, and Claude Desktop. Or use the hosted web demo. Compile needs no API key.</a:t>
            </a:r>
          </a:p>
        </p:txBody>
      </p:sp>
      <p:sp>
        <p:nvSpPr>
          <p:cNvPr id="195" name="Rectangle 33"/>
          <p:cNvSpPr/>
          <p:nvPr/>
        </p:nvSpPr>
        <p:spPr>
          <a:xfrm>
            <a:off x="6263640" y="3749038"/>
            <a:ext cx="5303521" cy="2331722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6" name="TextBox 34"/>
          <p:cNvSpPr txBox="1"/>
          <p:nvPr/>
        </p:nvSpPr>
        <p:spPr>
          <a:xfrm>
            <a:off x="6629400" y="4023359"/>
            <a:ext cx="4617721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E8F0EB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Honest about cuts</a:t>
            </a:r>
          </a:p>
        </p:txBody>
      </p:sp>
      <p:sp>
        <p:nvSpPr>
          <p:cNvPr id="197" name="TextBox 35"/>
          <p:cNvSpPr txBox="1"/>
          <p:nvPr/>
        </p:nvSpPr>
        <p:spPr>
          <a:xfrm>
            <a:off x="6629400" y="4572000"/>
            <a:ext cx="4617721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Every result lists what was left out. Open a skipped section when you need more of a chapter. Nothing is trimmed in silence.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E8EC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0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1" name="TextBox 3"/>
          <p:cNvSpPr txBox="1"/>
          <p:nvPr/>
        </p:nvSpPr>
        <p:spPr>
          <a:xfrm>
            <a:off x="640079" y="292608"/>
            <a:ext cx="108813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DEMO EVIDENCE</a:t>
            </a:r>
          </a:p>
        </p:txBody>
      </p:sp>
      <p:sp>
        <p:nvSpPr>
          <p:cNvPr id="202" name="TextBox 4"/>
          <p:cNvSpPr txBox="1"/>
          <p:nvPr/>
        </p:nvSpPr>
        <p:spPr>
          <a:xfrm>
            <a:off x="640079" y="548640"/>
            <a:ext cx="10881361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A221E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What you actually get back</a:t>
            </a:r>
          </a:p>
        </p:txBody>
      </p:sp>
      <p:sp>
        <p:nvSpPr>
          <p:cNvPr id="203" name="TextBox 5"/>
          <p:cNvSpPr txBox="1"/>
          <p:nvPr/>
        </p:nvSpPr>
        <p:spPr>
          <a:xfrm>
            <a:off x="640079" y="1051560"/>
            <a:ext cx="108813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Real 78-section handbook. One refunds question. Budget 1,200 tokens.</a:t>
            </a:r>
          </a:p>
        </p:txBody>
      </p:sp>
      <p:sp>
        <p:nvSpPr>
          <p:cNvPr id="204" name="Rectangle 6"/>
          <p:cNvSpPr/>
          <p:nvPr/>
        </p:nvSpPr>
        <p:spPr>
          <a:xfrm>
            <a:off x="594359" y="1508760"/>
            <a:ext cx="3566161" cy="2011679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5" name="TextBox 7"/>
          <p:cNvSpPr txBox="1"/>
          <p:nvPr/>
        </p:nvSpPr>
        <p:spPr>
          <a:xfrm>
            <a:off x="868680" y="1783079"/>
            <a:ext cx="31089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E8F0EB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97%</a:t>
            </a:r>
          </a:p>
        </p:txBody>
      </p:sp>
      <p:sp>
        <p:nvSpPr>
          <p:cNvPr id="206" name="TextBox 8"/>
          <p:cNvSpPr txBox="1"/>
          <p:nvPr/>
        </p:nvSpPr>
        <p:spPr>
          <a:xfrm>
            <a:off x="868680" y="2423160"/>
            <a:ext cx="3108961" cy="5009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fewer tokens, answer still intact</a:t>
            </a:r>
          </a:p>
          <a:p>
            <a:pPr>
              <a:defRPr sz="13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20,364 → 591</a:t>
            </a:r>
          </a:p>
        </p:txBody>
      </p:sp>
      <p:sp>
        <p:nvSpPr>
          <p:cNvPr id="207" name="Rectangle 9"/>
          <p:cNvSpPr/>
          <p:nvPr/>
        </p:nvSpPr>
        <p:spPr>
          <a:xfrm>
            <a:off x="4325111" y="1508760"/>
            <a:ext cx="3566161" cy="2011679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8" name="Rectangle 10"/>
          <p:cNvSpPr/>
          <p:nvPr/>
        </p:nvSpPr>
        <p:spPr>
          <a:xfrm>
            <a:off x="4325111" y="1508760"/>
            <a:ext cx="3566161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9" name="TextBox 11"/>
          <p:cNvSpPr txBox="1"/>
          <p:nvPr/>
        </p:nvSpPr>
        <p:spPr>
          <a:xfrm>
            <a:off x="4599432" y="1783079"/>
            <a:ext cx="31089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1F5C42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~34×</a:t>
            </a:r>
          </a:p>
        </p:txBody>
      </p:sp>
      <p:sp>
        <p:nvSpPr>
          <p:cNvPr id="210" name="TextBox 12"/>
          <p:cNvSpPr txBox="1"/>
          <p:nvPr/>
        </p:nvSpPr>
        <p:spPr>
          <a:xfrm>
            <a:off x="4599432" y="2423160"/>
            <a:ext cx="3108961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cheaper per read when conversion is cached; repeats come back fast</a:t>
            </a:r>
          </a:p>
        </p:txBody>
      </p:sp>
      <p:sp>
        <p:nvSpPr>
          <p:cNvPr id="211" name="Rectangle 13"/>
          <p:cNvSpPr/>
          <p:nvPr/>
        </p:nvSpPr>
        <p:spPr>
          <a:xfrm>
            <a:off x="8055864" y="1508760"/>
            <a:ext cx="3566160" cy="2011679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2" name="Rectangle 14"/>
          <p:cNvSpPr/>
          <p:nvPr/>
        </p:nvSpPr>
        <p:spPr>
          <a:xfrm>
            <a:off x="8055864" y="1508760"/>
            <a:ext cx="3566160" cy="54865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TextBox 15"/>
          <p:cNvSpPr txBox="1"/>
          <p:nvPr/>
        </p:nvSpPr>
        <p:spPr>
          <a:xfrm>
            <a:off x="8330183" y="1783079"/>
            <a:ext cx="310896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1F5C42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Check it</a:t>
            </a:r>
          </a:p>
        </p:txBody>
      </p:sp>
      <p:sp>
        <p:nvSpPr>
          <p:cNvPr id="214" name="TextBox 16"/>
          <p:cNvSpPr txBox="1"/>
          <p:nvPr/>
        </p:nvSpPr>
        <p:spPr>
          <a:xfrm>
            <a:off x="8330183" y="2423160"/>
            <a:ext cx="3108961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Same question from the full file and from the compiled slice. Compare the facts yourself.</a:t>
            </a:r>
          </a:p>
        </p:txBody>
      </p:sp>
      <p:sp>
        <p:nvSpPr>
          <p:cNvPr id="215" name="Rectangle 17"/>
          <p:cNvSpPr/>
          <p:nvPr/>
        </p:nvSpPr>
        <p:spPr>
          <a:xfrm>
            <a:off x="594359" y="3794759"/>
            <a:ext cx="10972801" cy="2377441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6" name="TextBox 18"/>
          <p:cNvSpPr txBox="1"/>
          <p:nvPr/>
        </p:nvSpPr>
        <p:spPr>
          <a:xfrm>
            <a:off x="914399" y="4023359"/>
            <a:ext cx="10241282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Story: vendor handbook  ·  “How long do refunds take and who approves large ones?”  ·  budget 1,200</a:t>
            </a:r>
          </a:p>
        </p:txBody>
      </p:sp>
      <p:sp>
        <p:nvSpPr>
          <p:cNvPr id="217" name="TextBox 19"/>
          <p:cNvSpPr txBox="1"/>
          <p:nvPr/>
        </p:nvSpPr>
        <p:spPr>
          <a:xfrm>
            <a:off x="914399" y="4572000"/>
            <a:ext cx="10241282" cy="307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E8F0EB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Whole file: 20,364 tokens</a:t>
            </a:r>
          </a:p>
        </p:txBody>
      </p:sp>
      <p:sp>
        <p:nvSpPr>
          <p:cNvPr id="218" name="Rectangle 20"/>
          <p:cNvSpPr/>
          <p:nvPr/>
        </p:nvSpPr>
        <p:spPr>
          <a:xfrm>
            <a:off x="868680" y="4937759"/>
            <a:ext cx="10058401" cy="164593"/>
          </a:xfrm>
          <a:prstGeom prst="rect">
            <a:avLst/>
          </a:prstGeom>
          <a:solidFill>
            <a:srgbClr val="2A4A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Rectangle 21"/>
          <p:cNvSpPr/>
          <p:nvPr/>
        </p:nvSpPr>
        <p:spPr>
          <a:xfrm>
            <a:off x="868680" y="4937759"/>
            <a:ext cx="10058401" cy="164593"/>
          </a:xfrm>
          <a:prstGeom prst="rect">
            <a:avLst/>
          </a:prstGeom>
          <a:solidFill>
            <a:srgbClr val="9AAB9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TextBox 22"/>
          <p:cNvSpPr txBox="1"/>
          <p:nvPr/>
        </p:nvSpPr>
        <p:spPr>
          <a:xfrm>
            <a:off x="914399" y="5257800"/>
            <a:ext cx="10241282" cy="307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E8F0EB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Compiled: 591 tokens  ·  answer intact  ·  list of skipped sections included</a:t>
            </a:r>
          </a:p>
        </p:txBody>
      </p:sp>
      <p:sp>
        <p:nvSpPr>
          <p:cNvPr id="221" name="Rectangle 23"/>
          <p:cNvSpPr/>
          <p:nvPr/>
        </p:nvSpPr>
        <p:spPr>
          <a:xfrm>
            <a:off x="868680" y="5623559"/>
            <a:ext cx="10058401" cy="164593"/>
          </a:xfrm>
          <a:prstGeom prst="rect">
            <a:avLst/>
          </a:prstGeom>
          <a:solidFill>
            <a:srgbClr val="2A4A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Rectangle 24"/>
          <p:cNvSpPr/>
          <p:nvPr/>
        </p:nvSpPr>
        <p:spPr>
          <a:xfrm>
            <a:off x="868680" y="5623559"/>
            <a:ext cx="329185" cy="164593"/>
          </a:xfrm>
          <a:prstGeom prst="rect">
            <a:avLst/>
          </a:prstGeom>
          <a:solidFill>
            <a:srgbClr val="8FCEB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E8ECE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6" name="TextBox 3"/>
          <p:cNvSpPr txBox="1"/>
          <p:nvPr/>
        </p:nvSpPr>
        <p:spPr>
          <a:xfrm>
            <a:off x="640079" y="292608"/>
            <a:ext cx="108813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ROADMAP</a:t>
            </a:r>
          </a:p>
        </p:txBody>
      </p:sp>
      <p:sp>
        <p:nvSpPr>
          <p:cNvPr id="227" name="TextBox 4"/>
          <p:cNvSpPr txBox="1"/>
          <p:nvPr/>
        </p:nvSpPr>
        <p:spPr>
          <a:xfrm>
            <a:off x="640079" y="548640"/>
            <a:ext cx="6309361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A221E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What’s next</a:t>
            </a:r>
          </a:p>
        </p:txBody>
      </p:sp>
      <p:sp>
        <p:nvSpPr>
          <p:cNvPr id="228" name="Rectangle 5"/>
          <p:cNvSpPr/>
          <p:nvPr/>
        </p:nvSpPr>
        <p:spPr>
          <a:xfrm>
            <a:off x="594359" y="1234439"/>
            <a:ext cx="6400801" cy="960121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Rectangle 6"/>
          <p:cNvSpPr/>
          <p:nvPr/>
        </p:nvSpPr>
        <p:spPr>
          <a:xfrm>
            <a:off x="594359" y="1234439"/>
            <a:ext cx="91441" cy="960121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" name="TextBox 7"/>
          <p:cNvSpPr txBox="1"/>
          <p:nvPr/>
        </p:nvSpPr>
        <p:spPr>
          <a:xfrm>
            <a:off x="960119" y="1371600"/>
            <a:ext cx="365761" cy="269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231" name="TextBox 8"/>
          <p:cNvSpPr txBox="1"/>
          <p:nvPr/>
        </p:nvSpPr>
        <p:spPr>
          <a:xfrm>
            <a:off x="1417319" y="1371600"/>
            <a:ext cx="5212081" cy="320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Clearer paraphrase matching</a:t>
            </a:r>
          </a:p>
        </p:txBody>
      </p:sp>
      <p:sp>
        <p:nvSpPr>
          <p:cNvPr id="232" name="TextBox 9"/>
          <p:cNvSpPr txBox="1"/>
          <p:nvPr/>
        </p:nvSpPr>
        <p:spPr>
          <a:xfrm>
            <a:off x="1417319" y="1691639"/>
            <a:ext cx="5212081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Local embeddings next. Query cleanup and offline recall eval already shipped.</a:t>
            </a:r>
          </a:p>
        </p:txBody>
      </p:sp>
      <p:sp>
        <p:nvSpPr>
          <p:cNvPr id="233" name="Rectangle 10"/>
          <p:cNvSpPr/>
          <p:nvPr/>
        </p:nvSpPr>
        <p:spPr>
          <a:xfrm>
            <a:off x="594359" y="2331720"/>
            <a:ext cx="6400801" cy="960121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" name="Rectangle 11"/>
          <p:cNvSpPr/>
          <p:nvPr/>
        </p:nvSpPr>
        <p:spPr>
          <a:xfrm>
            <a:off x="594359" y="2331720"/>
            <a:ext cx="91441" cy="960121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5" name="TextBox 12"/>
          <p:cNvSpPr txBox="1"/>
          <p:nvPr/>
        </p:nvSpPr>
        <p:spPr>
          <a:xfrm>
            <a:off x="960119" y="2468879"/>
            <a:ext cx="36576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236" name="TextBox 13"/>
          <p:cNvSpPr txBox="1"/>
          <p:nvPr/>
        </p:nvSpPr>
        <p:spPr>
          <a:xfrm>
            <a:off x="1417319" y="2468879"/>
            <a:ext cx="521208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Whole folders, not one file</a:t>
            </a:r>
          </a:p>
        </p:txBody>
      </p:sp>
      <p:sp>
        <p:nvSpPr>
          <p:cNvPr id="237" name="TextBox 14"/>
          <p:cNvSpPr txBox="1"/>
          <p:nvPr/>
        </p:nvSpPr>
        <p:spPr>
          <a:xfrm>
            <a:off x="1417319" y="2788920"/>
            <a:ext cx="52120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Compile across a folder. Shared conversion cache for teams.</a:t>
            </a:r>
          </a:p>
        </p:txBody>
      </p:sp>
      <p:sp>
        <p:nvSpPr>
          <p:cNvPr id="238" name="Rectangle 15"/>
          <p:cNvSpPr/>
          <p:nvPr/>
        </p:nvSpPr>
        <p:spPr>
          <a:xfrm>
            <a:off x="594359" y="3429000"/>
            <a:ext cx="6400801" cy="960120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Rectangle 16"/>
          <p:cNvSpPr/>
          <p:nvPr/>
        </p:nvSpPr>
        <p:spPr>
          <a:xfrm>
            <a:off x="594359" y="3429000"/>
            <a:ext cx="91441" cy="960120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0" name="TextBox 17"/>
          <p:cNvSpPr txBox="1"/>
          <p:nvPr/>
        </p:nvSpPr>
        <p:spPr>
          <a:xfrm>
            <a:off x="960119" y="3566159"/>
            <a:ext cx="36576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241" name="TextBox 18"/>
          <p:cNvSpPr txBox="1"/>
          <p:nvPr/>
        </p:nvSpPr>
        <p:spPr>
          <a:xfrm>
            <a:off x="1417319" y="3566159"/>
            <a:ext cx="521208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Video and audio</a:t>
            </a:r>
          </a:p>
        </p:txBody>
      </p:sp>
      <p:sp>
        <p:nvSpPr>
          <p:cNvPr id="242" name="TextBox 19"/>
          <p:cNvSpPr txBox="1"/>
          <p:nvPr/>
        </p:nvSpPr>
        <p:spPr>
          <a:xfrm>
            <a:off x="1417319" y="3886200"/>
            <a:ext cx="5212081" cy="294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Transcribe into the same pipeline.</a:t>
            </a:r>
          </a:p>
        </p:txBody>
      </p:sp>
      <p:sp>
        <p:nvSpPr>
          <p:cNvPr id="243" name="Rectangle 20"/>
          <p:cNvSpPr/>
          <p:nvPr/>
        </p:nvSpPr>
        <p:spPr>
          <a:xfrm>
            <a:off x="594359" y="4526279"/>
            <a:ext cx="6400801" cy="960121"/>
          </a:xfrm>
          <a:prstGeom prst="rect">
            <a:avLst/>
          </a:prstGeom>
          <a:solidFill>
            <a:srgbClr val="F3F6F4"/>
          </a:solidFill>
          <a:ln w="12700">
            <a:solidFill>
              <a:srgbClr val="C8D2CB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4" name="Rectangle 21"/>
          <p:cNvSpPr/>
          <p:nvPr/>
        </p:nvSpPr>
        <p:spPr>
          <a:xfrm>
            <a:off x="594359" y="4526279"/>
            <a:ext cx="91441" cy="960121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" name="TextBox 22"/>
          <p:cNvSpPr txBox="1"/>
          <p:nvPr/>
        </p:nvSpPr>
        <p:spPr>
          <a:xfrm>
            <a:off x="960119" y="4663440"/>
            <a:ext cx="365761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1F5C42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246" name="TextBox 23"/>
          <p:cNvSpPr txBox="1"/>
          <p:nvPr/>
        </p:nvSpPr>
        <p:spPr>
          <a:xfrm>
            <a:off x="1417319" y="4663440"/>
            <a:ext cx="521208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1A221E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One-command install</a:t>
            </a:r>
          </a:p>
        </p:txBody>
      </p:sp>
      <p:sp>
        <p:nvSpPr>
          <p:cNvPr id="247" name="TextBox 24"/>
          <p:cNvSpPr txBox="1"/>
          <p:nvPr/>
        </p:nvSpPr>
        <p:spPr>
          <a:xfrm>
            <a:off x="1417319" y="4983479"/>
            <a:ext cx="52120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4A585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Quick setup for any agent client that speaks the same protocol.</a:t>
            </a:r>
          </a:p>
        </p:txBody>
      </p:sp>
      <p:sp>
        <p:nvSpPr>
          <p:cNvPr id="248" name="Rectangle 25"/>
          <p:cNvSpPr/>
          <p:nvPr/>
        </p:nvSpPr>
        <p:spPr>
          <a:xfrm>
            <a:off x="7360919" y="1234439"/>
            <a:ext cx="4251961" cy="4846322"/>
          </a:xfrm>
          <a:prstGeom prst="rect">
            <a:avLst/>
          </a:prstGeom>
          <a:solidFill>
            <a:srgbClr val="1F5C4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9" name="TextBox 26"/>
          <p:cNvSpPr txBox="1"/>
          <p:nvPr/>
        </p:nvSpPr>
        <p:spPr>
          <a:xfrm>
            <a:off x="7726679" y="1554480"/>
            <a:ext cx="3566161" cy="43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E8F0EB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Try it live</a:t>
            </a:r>
          </a:p>
        </p:txBody>
      </p:sp>
      <p:sp>
        <p:nvSpPr>
          <p:cNvPr id="250" name="TextBox 27"/>
          <p:cNvSpPr txBox="1"/>
          <p:nvPr/>
        </p:nvSpPr>
        <p:spPr>
          <a:xfrm>
            <a:off x="7726679" y="2194560"/>
            <a:ext cx="3566161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context-compiler.onrender.com</a:t>
            </a:r>
          </a:p>
          <a:p>
            <a:pPr>
              <a:defRPr sz="13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defRPr sz="1300">
                <a:solidFill>
                  <a:srgbClr val="B8D0C4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t>github.com/shenba1712/context-compiler</a:t>
            </a:r>
          </a:p>
        </p:txBody>
      </p:sp>
      <p:sp>
        <p:nvSpPr>
          <p:cNvPr id="251" name="TextBox 28"/>
          <p:cNvSpPr txBox="1"/>
          <p:nvPr/>
        </p:nvSpPr>
        <p:spPr>
          <a:xfrm>
            <a:off x="7726679" y="3794759"/>
            <a:ext cx="3566161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E8F0EB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Open the demo, or wire it into Cursor, Claude Code, or Codex. Check the answer on a real doc.</a:t>
            </a:r>
          </a:p>
        </p:txBody>
      </p:sp>
      <p:sp>
        <p:nvSpPr>
          <p:cNvPr id="252" name="TextBox 29"/>
          <p:cNvSpPr txBox="1"/>
          <p:nvPr/>
        </p:nvSpPr>
        <p:spPr>
          <a:xfrm>
            <a:off x="7726679" y="5029200"/>
            <a:ext cx="3566161" cy="548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8FCEB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Stop paying for pages your agent doesn’t read.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